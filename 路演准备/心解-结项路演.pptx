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7" Type="http://schemas.openxmlformats.org/officeDocument/2006/relationships/notesSlide" Target="../notesSlides/notesSlide3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5.png"/><Relationship Id="rId34" Type="http://schemas.openxmlformats.org/officeDocument/2006/relationships/tags" Target="../tags/tag30.xml"/><Relationship Id="rId33" Type="http://schemas.openxmlformats.org/officeDocument/2006/relationships/image" Target="../media/image4.png"/><Relationship Id="rId32" Type="http://schemas.openxmlformats.org/officeDocument/2006/relationships/tags" Target="../tags/tag29.xml"/><Relationship Id="rId31" Type="http://schemas.openxmlformats.org/officeDocument/2006/relationships/image" Target="../media/image3.png"/><Relationship Id="rId30" Type="http://schemas.openxmlformats.org/officeDocument/2006/relationships/tags" Target="../tags/tag28.xml"/><Relationship Id="rId3" Type="http://schemas.openxmlformats.org/officeDocument/2006/relationships/tags" Target="../tags/tag3.xml"/><Relationship Id="rId29" Type="http://schemas.openxmlformats.org/officeDocument/2006/relationships/image" Target="../media/image2.png"/><Relationship Id="rId28" Type="http://schemas.openxmlformats.org/officeDocument/2006/relationships/tags" Target="../tags/tag27.xml"/><Relationship Id="rId27" Type="http://schemas.openxmlformats.org/officeDocument/2006/relationships/image" Target="../media/image1.png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心解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E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一片属于你自己的建构之地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5A8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53765"/>
            <a:ext cx="7315200" cy="752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b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项目负责人：申淑博</a:t>
            </a:r>
            <a:r>
              <a:rPr lang="en-US" b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b="1" dirty="0">
              <a:solidFill>
                <a:srgbClr val="AAAA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b="1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项目类型：个人创新项目</a:t>
            </a:r>
            <a:endParaRPr lang="en-US" b="1" dirty="0">
              <a:solidFill>
                <a:srgbClr val="AAAA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en-US" b="1" dirty="0">
              <a:solidFill>
                <a:srgbClr val="AAAA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3" name="Shape 1"/>
          <p:cNvSpPr/>
          <p:nvPr/>
        </p:nvSpPr>
        <p:spPr>
          <a:xfrm>
            <a:off x="640080" y="182880"/>
            <a:ext cx="7863840" cy="347472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4" name="Text 2"/>
          <p:cNvSpPr/>
          <p:nvPr/>
        </p:nvSpPr>
        <p:spPr>
          <a:xfrm>
            <a:off x="772160" y="182880"/>
            <a:ext cx="745744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心解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一个让你自己动手拆解、追问、建构内心秩序的安静工具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0975" y="694817"/>
            <a:ext cx="73152" cy="219456"/>
          </a:xfrm>
          <a:prstGeom prst="rect">
            <a:avLst/>
          </a:prstGeom>
          <a:solidFill>
            <a:srgbClr val="5A8F6E"/>
          </a:solidFill>
        </p:spPr>
      </p:sp>
      <p:sp>
        <p:nvSpPr>
          <p:cNvPr id="6" name="Text 4"/>
          <p:cNvSpPr/>
          <p:nvPr/>
        </p:nvSpPr>
        <p:spPr>
          <a:xfrm>
            <a:off x="347472" y="65938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一个不确定的时代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345" y="920115"/>
            <a:ext cx="4572000" cy="5518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旧的参照系在松动——学校的标准、家庭的期待、社会的</a:t>
            </a:r>
            <a:r>
              <a:rPr lang="zh-CN" alt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巨大改变</a:t>
            </a: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——都不再是唯一的答案。信息涌进来，看得越多心里越没底。这不是个别人的问题，是整个时代的不确定性落到了</a:t>
            </a:r>
            <a:r>
              <a:rPr lang="zh-CN" alt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我们的身</a:t>
            </a: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上。</a:t>
            </a:r>
            <a:endParaRPr lang="en-US" sz="1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0340" y="1517777"/>
            <a:ext cx="73152" cy="219456"/>
          </a:xfrm>
          <a:prstGeom prst="rect">
            <a:avLst/>
          </a:prstGeom>
          <a:solidFill>
            <a:srgbClr val="5A8F6E"/>
          </a:solidFill>
        </p:spPr>
        <p:txBody>
          <a:bodyPr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47472" y="151917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数据告诉我们的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9382" y="1822450"/>
            <a:ext cx="1481328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9382" y="186156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D6751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18-24岁</a:t>
            </a:r>
            <a:endParaRPr lang="en-US" sz="2400" b="1" dirty="0">
              <a:solidFill>
                <a:srgbClr val="3D6751"/>
              </a:solidFill>
              <a:latin typeface="Arial Black" panose="020B0A04020102020204" charset="0"/>
              <a:ea typeface="Georgia" panose="02040502050405020303" pitchFamily="34" charset="-122"/>
              <a:cs typeface="Arial Black" panose="020B0A040201020202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534" y="2244471"/>
            <a:ext cx="1335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抑郁水平达峰值</a:t>
            </a:r>
            <a:endParaRPr lang="en-US" sz="1200" b="1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3169" y="2494661"/>
            <a:ext cx="13350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中科院蓝皮书 2025</a:t>
            </a:r>
            <a:endParaRPr lang="en-US" sz="1000" b="1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 万样本</a:t>
            </a:r>
            <a:endParaRPr lang="en-US" sz="1000" b="1" dirty="0">
              <a:solidFill>
                <a:srgbClr val="7777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091309" y="1819275"/>
            <a:ext cx="1481328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91309" y="184378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b="1" dirty="0">
                <a:solidFill>
                  <a:srgbClr val="3D6751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≈70%</a:t>
            </a:r>
            <a:endParaRPr lang="en-US" sz="2400" b="1" dirty="0">
              <a:solidFill>
                <a:srgbClr val="3D6751"/>
              </a:solidFill>
              <a:latin typeface="Arial Black" panose="020B0A04020102020204" charset="0"/>
              <a:ea typeface="Georgia" panose="02040502050405020303" pitchFamily="34" charset="-122"/>
              <a:cs typeface="Arial Black" panose="020B0A040201020202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163826" y="2212086"/>
            <a:ext cx="1335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曾因职场心理困扰</a:t>
            </a:r>
            <a:endParaRPr lang="en-US" sz="1200" b="1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63826" y="2486406"/>
            <a:ext cx="13350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 世代职场报告 2024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3,956 人</a:t>
            </a:r>
            <a:endParaRPr lang="en-US" sz="900" b="1" dirty="0">
              <a:solidFill>
                <a:srgbClr val="7777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50386" y="1819275"/>
            <a:ext cx="1481328" cy="118872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91026" y="1865376"/>
            <a:ext cx="14813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2400" b="1" dirty="0">
                <a:solidFill>
                  <a:srgbClr val="3D6751"/>
                </a:solidFill>
                <a:latin typeface="Arial Black" panose="020B0A04020102020204" charset="0"/>
                <a:ea typeface="Georgia" panose="02040502050405020303" pitchFamily="34" charset="-122"/>
                <a:cs typeface="Arial Black" panose="020B0A04020102020204" charset="0"/>
              </a:rPr>
              <a:t>2.8%</a:t>
            </a:r>
            <a:endParaRPr lang="en-US" sz="2400" b="1" dirty="0">
              <a:solidFill>
                <a:srgbClr val="3D6751"/>
              </a:solidFill>
              <a:latin typeface="Arial Black" panose="020B0A04020102020204" charset="0"/>
              <a:ea typeface="Georgia" panose="02040502050405020303" pitchFamily="34" charset="-122"/>
              <a:cs typeface="Arial Black" panose="020B0A040201020202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23538" y="2244471"/>
            <a:ext cx="13350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实际用过心理咨询</a:t>
            </a:r>
            <a:endParaRPr lang="en-US" sz="1200" b="1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91153" y="2494661"/>
            <a:ext cx="133502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而 80% 知道</a:t>
            </a:r>
            <a:endParaRPr lang="en-US" sz="900" b="1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77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有这项服务</a:t>
            </a:r>
            <a:endParaRPr lang="en-US" sz="900" b="1" dirty="0">
              <a:solidFill>
                <a:srgbClr val="77777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0975" y="3050032"/>
            <a:ext cx="73152" cy="219456"/>
          </a:xfrm>
          <a:prstGeom prst="rect">
            <a:avLst/>
          </a:prstGeom>
          <a:solidFill>
            <a:srgbClr val="5A8F6E"/>
          </a:solidFill>
        </p:spPr>
      </p:sp>
      <p:sp>
        <p:nvSpPr>
          <p:cNvPr id="23" name="Text 21"/>
          <p:cNvSpPr/>
          <p:nvPr/>
        </p:nvSpPr>
        <p:spPr>
          <a:xfrm>
            <a:off x="340487" y="3070479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存在一个缺口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4000" y="3274060"/>
            <a:ext cx="4860290" cy="1831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心理咨询对大多数人来说，门槛太高、话题太重，甚至让人觉得“我没有这个需求”。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但特别是在准备进入社会、或刚进入社会这个阶段——我们每天都在和巨大的不确定性共存。那些真实的烦恼、焦虑、自我否定，它们不是虚构的，也不是“想开点”就能消解的。它们真实地影响着我们的生活、选择和自我判断。但在我的自我探索过程中看来，这个阶段虽然充满了迷茫和恐惧，但它恰恰也是我们快速构建自我世界最重要的窗口期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为我们在探索自己想要什么，在发现自己不喜欢什么，在一点点剥离外界的声音，在构建那个真实的、属于自己的坐标。这个过程中，我们需要一个地方——一个可以和自己对话、可以记录混乱、可以构建自己的内心世界、培养主体性的空间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22265" y="713232"/>
            <a:ext cx="73152" cy="219456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26" name="Text 24"/>
          <p:cNvSpPr/>
          <p:nvPr/>
        </p:nvSpPr>
        <p:spPr>
          <a:xfrm>
            <a:off x="5582412" y="695579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核心判断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76545" y="1051560"/>
            <a:ext cx="3154680" cy="231140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987552"/>
            <a:ext cx="3154680" cy="36576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29" name="Text 27"/>
          <p:cNvSpPr/>
          <p:nvPr/>
        </p:nvSpPr>
        <p:spPr>
          <a:xfrm>
            <a:off x="5431790" y="1049655"/>
            <a:ext cx="3041015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面对不确定性、建构内心秩序——不是靠“想通”一次就能解决的。它是一次次的日常实践。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你每天接收到的信息、产生的情绪、做出的选择——都是搭建自洽世界的材料。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关键在于，谁来处理这些材料？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是被动地被外界声音淹没，还是主动地去分辨、拆解、筛选，一砖一瓦地搭建。</a:t>
            </a:r>
            <a:endParaRPr lang="en-US" sz="1000" dirty="0">
              <a:solidFill>
                <a:srgbClr val="2C2C2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  <a:buNone/>
            </a:pPr>
            <a:r>
              <a:rPr lang="en-US" sz="1000" dirty="0">
                <a:solidFill>
                  <a:srgbClr val="2C2C2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 AI 时代，答案越来越廉价。但一个人内心的自洽秩序——那个只属于你的感知端口——是任何技术都无法替你建构的。这是人最珍贵的边界。</a:t>
            </a:r>
            <a:endParaRPr lang="en-US"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372100" y="3493770"/>
            <a:ext cx="76200" cy="219710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31" name="Text 29"/>
          <p:cNvSpPr/>
          <p:nvPr/>
        </p:nvSpPr>
        <p:spPr>
          <a:xfrm>
            <a:off x="5555107" y="347624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所以做了心解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76545" y="3844925"/>
            <a:ext cx="3154680" cy="1051560"/>
          </a:xfrm>
          <a:prstGeom prst="rect">
            <a:avLst/>
          </a:prstGeom>
          <a:solidFill>
            <a:srgbClr val="3D6751"/>
          </a:solidFill>
        </p:spPr>
        <p:txBody>
          <a:bodyPr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484495" y="3844925"/>
            <a:ext cx="2971165" cy="9734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endParaRPr lang="en-US" sz="1000" dirty="0">
              <a:solidFill>
                <a:srgbClr val="E8E3D9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E8E3D9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不是心理咨询，不是心灵鸡汤，不是一个给你答案的地方。</a:t>
            </a:r>
            <a:endParaRPr lang="en-US"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它是一个安静的建构空间。主语是</a:t>
            </a:r>
            <a:r>
              <a:rPr lang="zh-CN" altLang="en-US" sz="1000" b="1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用户自己</a:t>
            </a:r>
            <a:r>
              <a:rPr lang="en-US" sz="1000" b="1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——你来拆、你来问、你来建。</a:t>
            </a:r>
            <a:endParaRPr lang="en-US"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buNone/>
            </a:pPr>
            <a:endParaRPr lang="en-US" sz="1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835" y="447040"/>
            <a:ext cx="1517650" cy="3992245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447040"/>
            <a:ext cx="1517904" cy="54864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835" y="50292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67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✿</a:t>
            </a:r>
            <a:endParaRPr lang="en-US" sz="2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457200" y="850265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织记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520700" y="1143000"/>
            <a:ext cx="1454150" cy="1066800"/>
          </a:xfrm>
          <a:prstGeom prst="rect">
            <a:avLst/>
          </a:prstGeom>
          <a:noFill/>
        </p:spPr>
        <p:txBody>
          <a:bodyPr wrap="square" lIns="0" tIns="50800" rIns="50800" bIns="0" rtlCol="0" anchor="t"/>
          <a:lstStyle/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5步拆解：觉察→拆解→破局→实践→复盘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闭合反馈，客观衡量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暂时不想做 → 标记悬置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AI总结 2-6 字关键词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2221992" y="501650"/>
            <a:ext cx="1517904" cy="3383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221992" y="448310"/>
            <a:ext cx="1517904" cy="54864"/>
          </a:xfrm>
          <a:prstGeom prst="rect">
            <a:avLst/>
          </a:prstGeom>
          <a:solidFill>
            <a:srgbClr val="675E3F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2221992" y="50292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67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♡</a:t>
            </a:r>
            <a:endParaRPr lang="en-US" sz="22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2163572" y="850265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心宝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340610" y="1143000"/>
            <a:ext cx="1334770" cy="1041400"/>
          </a:xfrm>
          <a:prstGeom prst="rect">
            <a:avLst/>
          </a:prstGeom>
          <a:noFill/>
        </p:spPr>
        <p:txBody>
          <a:bodyPr wrap="square" lIns="0" tIns="50800" rIns="50800" bIns="0" rtlCol="0" anchor="t"/>
          <a:lstStyle/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说出困惑，它不回答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反过来问「听起来你在意的是…？」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发现绕圈 → 轻轻提醒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对话结束自动存档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3839464" y="448310"/>
            <a:ext cx="1517904" cy="3383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3868674" y="448310"/>
            <a:ext cx="1517904" cy="54864"/>
          </a:xfrm>
          <a:prstGeom prst="rect">
            <a:avLst/>
          </a:prstGeom>
          <a:solidFill>
            <a:srgbClr val="6F5862"/>
          </a:solidFill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3839464" y="50165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67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⊛</a:t>
            </a:r>
            <a:endParaRPr lang="en-US" sz="220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3848989" y="850265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心网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3961130" y="1143000"/>
            <a:ext cx="1334770" cy="1022985"/>
          </a:xfrm>
          <a:prstGeom prst="rect">
            <a:avLst/>
          </a:prstGeom>
          <a:noFill/>
        </p:spPr>
        <p:txBody>
          <a:bodyPr wrap="square" lIns="0" tIns="50800" rIns="50800" bIns="0" rtlCol="0" anchor="t"/>
          <a:lstStyle/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思考链 + 对话 → 各生成节点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节点自动连线，可拖拽、可缩放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攒多了，看见自己的轨迹</a:t>
            </a:r>
            <a:endParaRPr lang="en-US" sz="900" b="1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5454396" y="539750"/>
            <a:ext cx="1517904" cy="3383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5444236" y="448310"/>
            <a:ext cx="1517904" cy="54864"/>
          </a:xfrm>
          <a:prstGeom prst="rect">
            <a:avLst/>
          </a:prstGeom>
          <a:solidFill>
            <a:srgbClr val="2A4A3A"/>
          </a:solidFill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5444236" y="50165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67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◎</a:t>
            </a:r>
            <a:endParaRPr lang="en-US" sz="2200" dirty="0"/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5444236" y="896620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内心世界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5516626" y="1170940"/>
            <a:ext cx="1335024" cy="2194560"/>
          </a:xfrm>
          <a:prstGeom prst="rect">
            <a:avLst/>
          </a:prstGeom>
          <a:noFill/>
        </p:spPr>
        <p:txBody>
          <a:bodyPr wrap="square" lIns="0" tIns="50800" rIns="50800" bIns="0" rtlCol="0" anchor="t"/>
          <a:lstStyle/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世相 · 我行 · 心秤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三列分装信念和判断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标记锚点，AI每日推荐3条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长年累月，砌出形状</a:t>
            </a:r>
            <a:endParaRPr lang="en-US" sz="90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7060438" y="501650"/>
            <a:ext cx="1517904" cy="338328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9" name="Shape 27"/>
          <p:cNvSpPr/>
          <p:nvPr>
            <p:custDataLst>
              <p:tags r:id="rId22"/>
            </p:custDataLst>
          </p:nvPr>
        </p:nvSpPr>
        <p:spPr>
          <a:xfrm>
            <a:off x="7059168" y="447040"/>
            <a:ext cx="1517904" cy="54864"/>
          </a:xfrm>
          <a:prstGeom prst="rect">
            <a:avLst/>
          </a:prstGeom>
          <a:solidFill>
            <a:srgbClr val="5A8F6E"/>
          </a:solidFill>
        </p:spPr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059803" y="502920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D67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☆</a:t>
            </a:r>
            <a:endParaRPr lang="en-US" sz="22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7069328" y="890905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织光</a:t>
            </a:r>
            <a:endParaRPr lang="en-US" sz="1300" dirty="0"/>
          </a:p>
        </p:txBody>
      </p:sp>
      <p:sp>
        <p:nvSpPr>
          <p:cNvPr id="33" name="Text 31"/>
          <p:cNvSpPr/>
          <p:nvPr>
            <p:custDataLst>
              <p:tags r:id="rId25"/>
            </p:custDataLst>
          </p:nvPr>
        </p:nvSpPr>
        <p:spPr>
          <a:xfrm>
            <a:off x="7159498" y="1170940"/>
            <a:ext cx="1335024" cy="2194560"/>
          </a:xfrm>
          <a:prstGeom prst="rect">
            <a:avLst/>
          </a:prstGeom>
          <a:noFill/>
        </p:spPr>
        <p:txBody>
          <a:bodyPr wrap="square" lIns="0" tIns="50800" rIns="50800" bIns="0" rtlCol="0" anchor="t"/>
          <a:lstStyle/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看别人在经历什么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共鸣 → 点 ♥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不做社交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spcAft>
                <a:spcPts val="600"/>
              </a:spcAft>
              <a:buClrTx/>
              <a:buSzTx/>
              <a:buNone/>
            </a:pPr>
            <a:r>
              <a:rPr lang="en-US" sz="900" dirty="0">
                <a:solidFill>
                  <a:srgbClr val="2C2C2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匿名分享，没有压力</a:t>
            </a:r>
            <a:endParaRPr lang="en-US" sz="900" dirty="0">
              <a:solidFill>
                <a:srgbClr val="2C2C2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57200" y="2185035"/>
            <a:ext cx="1487170" cy="282765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2225675" y="2202815"/>
            <a:ext cx="1492885" cy="278955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/>
          <a:srcRect r="2779"/>
          <a:stretch>
            <a:fillRect/>
          </a:stretch>
        </p:blipFill>
        <p:spPr>
          <a:xfrm>
            <a:off x="3886200" y="2052955"/>
            <a:ext cx="1421765" cy="309054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5521325" y="2165985"/>
            <a:ext cx="1324610" cy="291147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7059930" y="2105660"/>
            <a:ext cx="1497965" cy="297180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74320" y="54610"/>
            <a:ext cx="30321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 dirty="0">
                <a:solidFill>
                  <a:srgbClr val="2A4A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 成果展示</a:t>
            </a:r>
            <a:endParaRPr lang="en-US" sz="2400" b="1" dirty="0">
              <a:solidFill>
                <a:srgbClr val="2A4A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4A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在产品和开发中，各守各的边界</a:t>
            </a:r>
            <a:endParaRPr lang="en-US" sz="2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13715" y="974725"/>
            <a:ext cx="3875405" cy="3989705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 sz="1000"/>
          </a:p>
          <a:p>
            <a:endParaRPr lang="zh-CN" altLang="en-US" sz="1000"/>
          </a:p>
          <a:p>
            <a:r>
              <a:rPr lang="en-US" sz="1100" b="1" dirty="0">
                <a:solidFill>
                  <a:srgbClr val="3D6751"/>
                </a:solidFill>
              </a:rPr>
              <a:t>做什么</a:t>
            </a:r>
            <a:endParaRPr lang="en-US" sz="1100" b="1" dirty="0">
              <a:solidFill>
                <a:srgbClr val="3D675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苏格拉底式追问：用户倾诉困惑，</a:t>
            </a: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只反向提问，引导用户自行理清内心矛盾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绕圈检测：识别用户反复内耗无进展，回复附带 [</a:t>
            </a: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SUSPEND]，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前端提示暂时搁置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思考链关键词总结：对话闭环后生成 2-6 字核心主题词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内心世界每日推荐：基于用户三观条目，生成 3 条全新探索方向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对话存档关键词提取：会话结束提取 2-4 字核心矛盾作为归档标签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lang="en-US" sz="1100" b="1" dirty="0">
                <a:solidFill>
                  <a:srgbClr val="3D6751"/>
                </a:solidFill>
              </a:rPr>
              <a:t>不做什么</a:t>
            </a:r>
            <a:endParaRPr lang="en-US" sz="1100" b="1" dirty="0">
              <a:solidFill>
                <a:srgbClr val="3D675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不给解决方案，只提问不输出定论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不替用户定义情绪，由用户自主表达感受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不替用户做选择，搁置与否完全由用户决定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不评判用户想法，不否定、不强行纠正认知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不提供心理诊断，无量表、不贴心理病症标签，非诊疗工具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683260" y="99695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在 App 里的角色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68680" y="1417320"/>
            <a:ext cx="329184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612005" y="960120"/>
            <a:ext cx="3749675" cy="3989070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681855" y="977265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 + AI 协作开发</a:t>
            </a:r>
            <a:endParaRPr lang="en-US" sz="14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681855" y="1268730"/>
            <a:ext cx="3661410" cy="3701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 fontAlgn="auto">
              <a:lnSpc>
                <a:spcPct val="100000"/>
              </a:lnSpc>
              <a:spcAft>
                <a:spcPts val="400"/>
              </a:spcAft>
              <a:buClrTx/>
              <a:buSzTx/>
              <a:buFontTx/>
              <a:buNone/>
            </a:pPr>
            <a:r>
              <a:rPr lang="en-US" sz="1100" b="1" dirty="0">
                <a:solidFill>
                  <a:srgbClr val="3D6751"/>
                </a:solidFill>
              </a:rPr>
              <a:t>工具＋分工</a:t>
            </a:r>
            <a:endParaRPr lang="en-US" sz="1100" b="1" dirty="0">
              <a:solidFill>
                <a:srgbClr val="3D6751"/>
              </a:solidFill>
            </a:endParaRPr>
          </a:p>
          <a:p>
            <a:pPr indent="0" algn="l" fontAlgn="auto">
              <a:lnSpc>
                <a:spcPct val="100000"/>
              </a:lnSpc>
              <a:spcAft>
                <a:spcPts val="400"/>
              </a:spcAft>
              <a:buClrTx/>
              <a:buSzTx/>
              <a:buFontTx/>
              <a:buNone/>
            </a:pP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 Code + Claude Code：编码与开发 AI 辅助，负责代码编写调试、项目文件管理；代码生成、架构研讨、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Bug 排查、文档资料检索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spcAft>
                <a:spcPts val="100"/>
              </a:spcAft>
              <a:buSzPct val="100000"/>
              <a:buNone/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HBuilder X + 微信开发者工具：多端编译 &amp; 小程序调试，uni-app 编译、云函数 / 数据库部署；模拟器、真机预览、编译校验、域名配置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spcAft>
                <a:spcPts val="100"/>
              </a:spcAft>
              <a:buSzPct val="100000"/>
              <a:buNone/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uni-app + uniCloud：前后端一体框架，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Vue3 多端页面开发、云函数部署、数据库管理、用户数据权限隔离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spcAft>
                <a:spcPts val="100"/>
              </a:spcAft>
              <a:buSzPct val="100000"/>
              <a:buNone/>
            </a:pP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DeepSeek API：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对话 </a:t>
            </a:r>
            <a:r>
              <a:rPr lang="en-US" altLang="zh-CN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 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模型，承载苏格拉底式问答、关键词提取、内容推荐、重复绕圈检测</a:t>
            </a: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写代码 · 出方案 · 查资料 · 排查 bug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D6751"/>
                </a:solidFill>
              </a:rPr>
              <a:t>我负责</a:t>
            </a:r>
            <a:endParaRPr lang="en-US" sz="1100" dirty="0"/>
          </a:p>
          <a:p>
            <a:pPr indent="0" fontAlgn="auto">
              <a:lnSpc>
                <a:spcPct val="150000"/>
              </a:lnSpc>
              <a:spcAft>
                <a:spcPts val="200"/>
              </a:spcAft>
              <a:buSzPct val="100000"/>
              <a:buNone/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定方向 · 判架构 · 验证 · 修正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  <a:buSzPct val="100000"/>
              <a:buNone/>
            </a:pPr>
            <a:r>
              <a:rPr lang="zh-CN" altLang="en-US" sz="1000">
                <a:latin typeface="宋体" panose="02010600030101010101" pitchFamily="2" charset="-122"/>
                <a:ea typeface="宋体" panose="02010600030101010101" pitchFamily="2" charset="-122"/>
              </a:rPr>
              <a:t>悬置恢复丢内容、删除后云端拉回、门槛太低…每个改动跑一遍，发现 → 修正 → 再验证</a:t>
            </a:r>
            <a:endParaRPr lang="zh-CN" altLang="en-US" sz="1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D6751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2A4A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验证与</a:t>
            </a:r>
            <a:r>
              <a:rPr lang="zh-CN" altLang="en-US" sz="2200" b="1" dirty="0">
                <a:solidFill>
                  <a:srgbClr val="2A4A3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迭代</a:t>
            </a:r>
            <a:endParaRPr lang="zh-CN" altLang="en-US" sz="2200" b="1" dirty="0">
              <a:solidFill>
                <a:srgbClr val="2A4A3A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04850" y="1016635"/>
            <a:ext cx="0" cy="3749040"/>
          </a:xfrm>
          <a:prstGeom prst="line">
            <a:avLst/>
          </a:prstGeom>
          <a:noFill/>
          <a:ln w="25400">
            <a:solidFill>
              <a:srgbClr val="5A8F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266" y="804799"/>
            <a:ext cx="201168" cy="201168"/>
          </a:xfrm>
          <a:prstGeom prst="ellipse">
            <a:avLst/>
          </a:prstGeom>
          <a:solidFill>
            <a:srgbClr val="675E3F"/>
          </a:solidFill>
        </p:spPr>
      </p:sp>
      <p:sp>
        <p:nvSpPr>
          <p:cNvPr id="6" name="Text 4"/>
          <p:cNvSpPr/>
          <p:nvPr/>
        </p:nvSpPr>
        <p:spPr>
          <a:xfrm>
            <a:off x="871855" y="77724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起点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1855" y="1020445"/>
            <a:ext cx="6896100" cy="645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在自我探索的过程中发现每个人的内心世界像是一张没有边界的网。每一次情绪波动、每一个卡住你的困惑，每一个你在意的声音都是网上零散的、还没连起来的点。我慢慢发现，把这些点连成线的过程是有规律的：觉察现在是什么感觉、拆解引起的主要矛盾点、探索自己真正在意的是什么，接着尝试突破这个主要矛盾，走完一圈，这条线闭合了。走第二遍、第三遍，它越来越结实，你处理它的能力也跟着变强，并且慢慢的对自己的认知会更加清晰，自己的主体性也会越来越强。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2361" y="1665859"/>
            <a:ext cx="201168" cy="201168"/>
          </a:xfrm>
          <a:prstGeom prst="ellipse">
            <a:avLst/>
          </a:prstGeom>
          <a:solidFill>
            <a:srgbClr val="5A8F6E"/>
          </a:solidFill>
        </p:spPr>
      </p:sp>
      <p:sp>
        <p:nvSpPr>
          <p:cNvPr id="9" name="Text 7"/>
          <p:cNvSpPr/>
          <p:nvPr/>
        </p:nvSpPr>
        <p:spPr>
          <a:xfrm>
            <a:off x="871855" y="1655445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第一轮 · 网页版原型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2171700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4266" y="2571369"/>
            <a:ext cx="201168" cy="201168"/>
          </a:xfrm>
          <a:prstGeom prst="ellipse">
            <a:avLst/>
          </a:prstGeom>
          <a:solidFill>
            <a:srgbClr val="5A8F6E"/>
          </a:solidFill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71855" y="2571115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第二轮 · 红队反馈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6675120" cy="438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996" y="3266694"/>
            <a:ext cx="201168" cy="201168"/>
          </a:xfrm>
          <a:prstGeom prst="ellipse">
            <a:avLst/>
          </a:prstGeom>
          <a:solidFill>
            <a:srgbClr val="5A8F6E"/>
          </a:solidFill>
        </p:spPr>
      </p:sp>
      <p:sp>
        <p:nvSpPr>
          <p:cNvPr id="15" name="Text 13"/>
          <p:cNvSpPr/>
          <p:nvPr/>
        </p:nvSpPr>
        <p:spPr>
          <a:xfrm>
            <a:off x="908050" y="3267075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4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第三轮 · 密集迭代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8050" y="3562985"/>
            <a:ext cx="6675120" cy="11258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重构完成后进入高强度迭代，分</a:t>
            </a: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四个层面推进: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altLang="zh-CN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—Stitch：UI</a:t>
            </a: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设计工具，负责页面视觉、组件、交互原型设计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－数据底座：uid 隔离→unicloud 云端同步 →7 表 Schema →record-per-doc 模型，完成从单机存储到云端架构的迁移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－ AI 行为约束：心宝 prompt 打磨为苏格拉底式追问规则 →[SUSPEND] 绕圈检测→ summarize 关键词提取模式 →节点生成门槛（23 条消息+ AI 关键词）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－体验闭环：闭合质量值→悬置清单复查建议→节点详情按来源区分设计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－稳定打磨：20+项修复--悬置恢复丢步、删除后云端回拉、退出弹窗误写"已保存"、心网越界clamp、未登录 mock 污染等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每个改动走完「发现&gt;修正&gt;验证」的完整循环。</a:t>
            </a:r>
            <a:endParaRPr lang="zh-CN" alt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6470" y="4492625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文本框 19"/>
          <p:cNvSpPr txBox="1"/>
          <p:nvPr/>
        </p:nvSpPr>
        <p:spPr>
          <a:xfrm>
            <a:off x="805180" y="1889125"/>
            <a:ext cx="6563995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早期通过网页版完成了核心功能的技术验证--日记模块、思考链流程、心宝对话引擎均实现了基础闭环。但在向移动端迁移的过程中暴露出两个问题：一是 </a:t>
            </a:r>
            <a:r>
              <a:rPr lang="en-US" altLang="zh-CN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</a:t>
            </a: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设计缺乏统一的规范体系，各页面视觉语言不统一；三是网页版的架构设计以桌面端交互为默认前提，与手机端的信息层级和操作习惯存在结构性不匹配。经过评估，在原有架构上做适配的成本已经高于重构，因此决定用</a:t>
            </a:r>
            <a:r>
              <a:rPr lang="en-US" altLang="zh-CN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uni-app（Vue 3）</a:t>
            </a: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重新构建，以微信小程序为第一目标平台。</a:t>
            </a:r>
            <a:endParaRPr lang="zh-CN" altLang="en-US" sz="950" dirty="0">
              <a:solidFill>
                <a:srgbClr val="2C2C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05180" y="2789555"/>
            <a:ext cx="7426960" cy="4724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/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期中评审中收到一个关键质疑：「心理方向</a:t>
            </a:r>
            <a:r>
              <a:rPr lang="zh-CN" altLang="en-US" sz="950" dirty="0">
                <a:solidFill>
                  <a:srgbClr val="2C2C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不需要专业能力吗？」这个问题推了我一把。它让我更清楚地划出自己的边界：不是在提供心理诊断或治疗--没有量表、没有诊断标签、不贴抑郁焦虑的标签。我提供的是一个结构，让用户借它来分析自己、拆解自己、建构自己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3D6751">
              <a:alpha val="3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下一步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280160"/>
            <a:ext cx="5029200" cy="603504"/>
          </a:xfrm>
          <a:prstGeom prst="rect">
            <a:avLst/>
          </a:prstGeom>
          <a:solidFill>
            <a:srgbClr val="FFFFFF">
              <a:alpha val="60000"/>
            </a:srgbClr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914400" y="135331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种子用户测试</a:t>
            </a:r>
            <a:endParaRPr lang="en-US" sz="14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914400" y="1609344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10-20 位目标用户真实反馈，验证定位和体验</a:t>
            </a:r>
            <a:endParaRPr lang="en-US" sz="10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40080" y="2029968"/>
            <a:ext cx="5029200" cy="603504"/>
          </a:xfrm>
          <a:prstGeom prst="rect">
            <a:avLst/>
          </a:prstGeom>
          <a:solidFill>
            <a:srgbClr val="FFFFFF">
              <a:alpha val="60000"/>
            </a:srgbClr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914400" y="210312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上线支持</a:t>
            </a:r>
            <a:endParaRPr lang="en-US" sz="14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14400" y="235915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微信小程序审核、发布流程指导</a:t>
            </a:r>
            <a:endParaRPr lang="en-US" sz="10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40080" y="2779776"/>
            <a:ext cx="5029200" cy="603504"/>
          </a:xfrm>
          <a:prstGeom prst="rect">
            <a:avLst/>
          </a:prstGeom>
          <a:solidFill>
            <a:srgbClr val="FFFFFF">
              <a:alpha val="60000"/>
            </a:srgbClr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14400" y="2852928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方向合作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14400" y="3108960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心理 / 教育领域老师和机构，帮忙判断边界和定位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334510"/>
            <a:ext cx="7315200" cy="466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0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感谢聆听</a:t>
            </a:r>
            <a:r>
              <a:rPr lang="en-US" sz="2800" dirty="0">
                <a:solidFill>
                  <a:srgbClr val="AAAA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800" dirty="0">
              <a:solidFill>
                <a:srgbClr val="AAAAA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3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4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5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6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7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8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9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0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1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2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3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4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5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6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7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8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19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0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1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2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3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4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5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6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7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8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29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30.xml><?xml version="1.0" encoding="utf-8"?>
<p:tagLst xmlns:p="http://schemas.openxmlformats.org/presentationml/2006/main">
  <p:tag name="KSO_WM_DIAGRAM_VIRTUALLY_FRAME" val="{&quot;height&quot;:369.8,&quot;left&quot;:18.69999999999999,&quot;top&quot;:35.2,&quot;width&quot;:657.6099999999999}"/>
</p:tagLst>
</file>

<file path=ppt/tags/tag31.xml><?xml version="1.0" encoding="utf-8"?>
<p:tagLst xmlns:p="http://schemas.openxmlformats.org/presentationml/2006/main">
  <p:tag name="KSO_WM_DIAGRAM_VIRTUALLY_FRAME" val="{&quot;height&quot;:319.8,&quot;left&quot;:40.45,&quot;top&quot;:71.55,&quot;width&quot;:629.15}"/>
</p:tagLst>
</file>

<file path=ppt/tags/tag32.xml><?xml version="1.0" encoding="utf-8"?>
<p:tagLst xmlns:p="http://schemas.openxmlformats.org/presentationml/2006/main">
  <p:tag name="KSO_WM_DIAGRAM_VIRTUALLY_FRAME" val="{&quot;height&quot;:319.8,&quot;left&quot;:40.45,&quot;top&quot;:71.55,&quot;width&quot;:629.15}"/>
</p:tagLst>
</file>

<file path=ppt/tags/tag33.xml><?xml version="1.0" encoding="utf-8"?>
<p:tagLst xmlns:p="http://schemas.openxmlformats.org/presentationml/2006/main">
  <p:tag name="KSO_WM_DIAGRAM_VIRTUALLY_FRAME" val="{&quot;height&quot;:298.85,&quot;left&quot;:50.4,&quot;top&quot;:75.55,&quot;width&quot;:619.2}"/>
</p:tagLst>
</file>

<file path=ppt/tags/tag34.xml><?xml version="1.0" encoding="utf-8"?>
<p:tagLst xmlns:p="http://schemas.openxmlformats.org/presentationml/2006/main">
  <p:tag name="KSO_WM_DIAGRAM_VIRTUALLY_FRAME" val="{&quot;height&quot;:319.8,&quot;left&quot;:40.45,&quot;top&quot;:71.55,&quot;width&quot;:629.15}"/>
</p:tagLst>
</file>

<file path=ppt/tags/tag35.xml><?xml version="1.0" encoding="utf-8"?>
<p:tagLst xmlns:p="http://schemas.openxmlformats.org/presentationml/2006/main">
  <p:tag name="KSO_WM_DIAGRAM_VIRTUALLY_FRAME" val="{&quot;height&quot;:319.8,&quot;left&quot;:40.45,&quot;top&quot;:71.55,&quot;width&quot;:629.15}"/>
</p:tagLst>
</file>

<file path=ppt/tags/tag36.xml><?xml version="1.0" encoding="utf-8"?>
<p:tagLst xmlns:p="http://schemas.openxmlformats.org/presentationml/2006/main">
  <p:tag name="KSO_WM_DIAGRAM_VIRTUALLY_FRAME" val="{&quot;height&quot;:319.8,&quot;left&quot;:40.45,&quot;top&quot;:71.55,&quot;width&quot;:629.15}"/>
</p:tagLst>
</file>

<file path=ppt/tags/tag37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38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39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0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1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2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3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4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ags/tag45.xml><?xml version="1.0" encoding="utf-8"?>
<p:tagLst xmlns:p="http://schemas.openxmlformats.org/presentationml/2006/main">
  <p:tag name="KSO_WM_DIAGRAM_VIRTUALLY_FRAME" val="{&quot;height&quot;:213.10999999999999,&quot;left&quot;:50.4,&quot;top&quot;:100.8,&quot;width&quot;:39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2717</Words>
  <Application>WPS 演示</Application>
  <PresentationFormat>On-screen Show (16:9)</PresentationFormat>
  <Paragraphs>172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Arial Black</vt:lpstr>
      <vt:lpstr>黑体</vt:lpstr>
      <vt:lpstr>微软雅黑</vt:lpstr>
      <vt:lpstr>Arial Unicode MS</vt:lpstr>
      <vt:lpstr>等线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心解 — 结项路演</dc:title>
  <dc:creator>Trist</dc:creator>
  <dc:subject>PptxGenJS Presentation</dc:subject>
  <cp:lastModifiedBy>WPS_1642409909</cp:lastModifiedBy>
  <cp:revision>11</cp:revision>
  <dcterms:created xsi:type="dcterms:W3CDTF">2026-06-23T11:16:00Z</dcterms:created>
  <dcterms:modified xsi:type="dcterms:W3CDTF">2026-07-06T13:42:46Z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C3F939995C9F415AB38C9440BEA84E38_12</vt:lpwstr>
  </property>
</Properties>
</file>